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pen Sauce Bold" charset="1" panose="00000800000000000000"/>
      <p:regular r:id="rId18"/>
    </p:embeddedFont>
    <p:embeddedFont>
      <p:font typeface="Open Sauce Light" charset="1" panose="00000400000000000000"/>
      <p:regular r:id="rId19"/>
    </p:embeddedFont>
    <p:embeddedFont>
      <p:font typeface="Open Sauce" charset="1" panose="00000500000000000000"/>
      <p:regular r:id="rId20"/>
    </p:embeddedFont>
    <p:embeddedFont>
      <p:font typeface="Open Sauce Bold Italics" charset="1" panose="00000800000000000000"/>
      <p:regular r:id="rId21"/>
    </p:embeddedFont>
    <p:embeddedFont>
      <p:font typeface="Open Sauce Italics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jpeg" Type="http://schemas.openxmlformats.org/officeDocument/2006/relationships/image"/><Relationship Id="rId5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18058" y="3298323"/>
            <a:ext cx="14251884" cy="2912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38"/>
              </a:lnSpc>
            </a:pPr>
            <a:r>
              <a:rPr lang="en-US" b="true" sz="8019" spc="-16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ANALYZING BOOKING TRENDS IN THE HOSPITALITY INDUSTRY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458285" y="3976290"/>
            <a:ext cx="801015" cy="1347272"/>
          </a:xfrm>
          <a:custGeom>
            <a:avLst/>
            <a:gdLst/>
            <a:ahLst/>
            <a:cxnLst/>
            <a:rect r="r" b="b" t="t" l="l"/>
            <a:pathLst>
              <a:path h="1347272" w="801015">
                <a:moveTo>
                  <a:pt x="0" y="0"/>
                </a:moveTo>
                <a:lnTo>
                  <a:pt x="801015" y="0"/>
                </a:lnTo>
                <a:lnTo>
                  <a:pt x="801015" y="1347272"/>
                </a:lnTo>
                <a:lnTo>
                  <a:pt x="0" y="134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44000" y="6287280"/>
            <a:ext cx="6520722" cy="96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3400" spc="-71">
                <a:solidFill>
                  <a:srgbClr val="049AB4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 Machine Learning Approach to Predicting Booking Cancellations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70144" y="1123211"/>
            <a:ext cx="3189156" cy="26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73"/>
              </a:lnSpc>
            </a:pPr>
            <a:r>
              <a:rPr lang="en-US" b="true" sz="2100" spc="9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NOVEM</a:t>
            </a:r>
            <a:r>
              <a:rPr lang="en-US" b="true" sz="2100" spc="9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BER 2025 |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971788"/>
            <a:ext cx="4880108" cy="286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b="true" sz="1800" spc="84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BY:</a:t>
            </a:r>
            <a:r>
              <a:rPr lang="en-US" sz="1800" spc="84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 HOLINE</a:t>
            </a:r>
            <a:r>
              <a:rPr lang="en-US" sz="1800" spc="84">
                <a:solidFill>
                  <a:srgbClr val="2B2B2B"/>
                </a:solidFill>
                <a:latin typeface="Open Sauce"/>
                <a:ea typeface="Open Sauce"/>
                <a:cs typeface="Open Sauce"/>
                <a:sym typeface="Open Sauce"/>
              </a:rPr>
              <a:t>SS SEGUN-OLUFEMI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7584276"/>
            <a:ext cx="6520722" cy="572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b="true" sz="1800" i="true" spc="84">
                <a:solidFill>
                  <a:srgbClr val="2B2B2B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Tools Used: </a:t>
            </a:r>
            <a:r>
              <a:rPr lang="en-US" sz="1800" i="true" spc="84">
                <a:solidFill>
                  <a:srgbClr val="2B2B2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Python (Panda</a:t>
            </a:r>
            <a:r>
              <a:rPr lang="en-US" sz="1800" i="true" spc="84">
                <a:solidFill>
                  <a:srgbClr val="2B2B2B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s, Seaborn, Scikit-Learn), Excel, Matplotlib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712670" y="8292694"/>
            <a:ext cx="1284361" cy="646851"/>
          </a:xfrm>
          <a:custGeom>
            <a:avLst/>
            <a:gdLst/>
            <a:ahLst/>
            <a:cxnLst/>
            <a:rect r="r" b="b" t="t" l="l"/>
            <a:pathLst>
              <a:path h="646851" w="1284361">
                <a:moveTo>
                  <a:pt x="0" y="0"/>
                </a:moveTo>
                <a:lnTo>
                  <a:pt x="1284361" y="0"/>
                </a:lnTo>
                <a:lnTo>
                  <a:pt x="1284361" y="646851"/>
                </a:lnTo>
                <a:lnTo>
                  <a:pt x="0" y="6468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10341" y="2515915"/>
            <a:ext cx="8063408" cy="1892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38"/>
              </a:lnSpc>
            </a:pPr>
            <a:r>
              <a:rPr lang="en-US" b="true" sz="7700" spc="-161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BACKG</a:t>
            </a:r>
            <a:r>
              <a:rPr lang="en-US" b="true" sz="7700" spc="-161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ROUND AND OBJECTIVE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10341" y="5184917"/>
            <a:ext cx="7273044" cy="1881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15"/>
              </a:lnSpc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</a:t>
            </a: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is project explores how data can be used to forecast booking outcomes, identify key factors behind cancellations, and recommend strategies for improving retention and operations.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07125" y="1972242"/>
            <a:ext cx="6079578" cy="6643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16"/>
              </a:lnSpc>
              <a:buFont typeface="Arial"/>
              <a:buChar char="•"/>
            </a:pPr>
            <a:r>
              <a:rPr lang="en-US" sz="2400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</a:t>
            </a:r>
            <a:r>
              <a:rPr lang="en-US" sz="2400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 hospitality industry faces high booking cancellation rates, which affects revenue and resource planning.</a:t>
            </a:r>
          </a:p>
          <a:p>
            <a:pPr algn="l">
              <a:lnSpc>
                <a:spcPts val="3816"/>
              </a:lnSpc>
            </a:pPr>
          </a:p>
          <a:p>
            <a:pPr algn="l" marL="518160" indent="-259080" lvl="1">
              <a:lnSpc>
                <a:spcPts val="3816"/>
              </a:lnSpc>
              <a:buFont typeface="Arial"/>
              <a:buChar char="•"/>
            </a:pPr>
            <a:r>
              <a:rPr lang="en-US" sz="2400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Understanding customer behavior can help hotels anticipate cancellations and take proactive action.</a:t>
            </a:r>
          </a:p>
          <a:p>
            <a:pPr algn="l">
              <a:lnSpc>
                <a:spcPts val="3816"/>
              </a:lnSpc>
            </a:pPr>
          </a:p>
          <a:p>
            <a:pPr algn="l" marL="518160" indent="-259080" lvl="1">
              <a:lnSpc>
                <a:spcPts val="3816"/>
              </a:lnSpc>
              <a:buFont typeface="Arial"/>
              <a:buChar char="•"/>
            </a:pPr>
            <a:r>
              <a:rPr lang="en-US" sz="2400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The goal: </a:t>
            </a:r>
            <a:r>
              <a:rPr lang="en-US" b="true" sz="2400" spc="3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Predict whether a booking will be canceled based on customer and booking characteristics.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25869" y="1028700"/>
            <a:ext cx="1533431" cy="1585314"/>
          </a:xfrm>
          <a:custGeom>
            <a:avLst/>
            <a:gdLst/>
            <a:ahLst/>
            <a:cxnLst/>
            <a:rect r="r" b="b" t="t" l="l"/>
            <a:pathLst>
              <a:path h="1585314" w="1533431">
                <a:moveTo>
                  <a:pt x="0" y="0"/>
                </a:moveTo>
                <a:lnTo>
                  <a:pt x="1533431" y="0"/>
                </a:lnTo>
                <a:lnTo>
                  <a:pt x="1533431" y="1585314"/>
                </a:lnTo>
                <a:lnTo>
                  <a:pt x="0" y="1585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95194" y="2233252"/>
            <a:ext cx="10469785" cy="197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b="true" sz="8000" spc="-16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ABOUT </a:t>
            </a:r>
          </a:p>
          <a:p>
            <a:pPr algn="l">
              <a:lnSpc>
                <a:spcPts val="7520"/>
              </a:lnSpc>
            </a:pPr>
            <a:r>
              <a:rPr lang="en-US" b="true" sz="8000" spc="-16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8000" spc="-16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HE DATASET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95194" y="4697878"/>
            <a:ext cx="14097611" cy="92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6"/>
              </a:lnSpc>
            </a:pPr>
            <a:r>
              <a:rPr lang="en-US" sz="2400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</a:t>
            </a:r>
            <a:r>
              <a:rPr lang="en-US" sz="2400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 dataset includes over 30,000 booking records, covering a range of guest demographics and booking behaviors across multiple channels.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95194" y="6362870"/>
            <a:ext cx="5370096" cy="92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16"/>
              </a:lnSpc>
              <a:buFont typeface="Arial"/>
              <a:buChar char="•"/>
            </a:pPr>
            <a:r>
              <a:rPr lang="en-US" sz="2400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To</a:t>
            </a:r>
            <a:r>
              <a:rPr lang="en-US" sz="2400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tal records: ~36,000 bookings</a:t>
            </a:r>
          </a:p>
          <a:p>
            <a:pPr algn="l" marL="518160" indent="-259080" lvl="1">
              <a:lnSpc>
                <a:spcPts val="3816"/>
              </a:lnSpc>
              <a:buFont typeface="Arial"/>
              <a:buChar char="•"/>
            </a:pPr>
            <a:r>
              <a:rPr lang="en-US" sz="2400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Time period: 2015–2018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01775" y="6362870"/>
            <a:ext cx="7691031" cy="1881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16"/>
              </a:lnSpc>
              <a:buFont typeface="Arial"/>
              <a:buChar char="•"/>
            </a:pPr>
            <a:r>
              <a:rPr lang="en-US" sz="2400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K</a:t>
            </a:r>
            <a:r>
              <a:rPr lang="en-US" sz="2400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ey features:</a:t>
            </a:r>
          </a:p>
          <a:p>
            <a:pPr algn="l" marL="1036320" indent="-345440" lvl="2">
              <a:lnSpc>
                <a:spcPts val="3816"/>
              </a:lnSpc>
              <a:buFont typeface="Arial"/>
              <a:buChar char="⚬"/>
            </a:pPr>
            <a:r>
              <a:rPr lang="en-US" sz="2400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Lead time (days before booking)</a:t>
            </a:r>
          </a:p>
          <a:p>
            <a:pPr algn="l" marL="1036320" indent="-345440" lvl="2">
              <a:lnSpc>
                <a:spcPts val="3816"/>
              </a:lnSpc>
              <a:buFont typeface="Arial"/>
              <a:buChar char="⚬"/>
            </a:pPr>
            <a:r>
              <a:rPr lang="en-US" sz="2400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Market segment (Online, Offline, etc.)</a:t>
            </a:r>
          </a:p>
          <a:p>
            <a:pPr algn="l" marL="1036320" indent="-345440" lvl="2">
              <a:lnSpc>
                <a:spcPts val="3816"/>
              </a:lnSpc>
              <a:buFont typeface="Arial"/>
              <a:buChar char="⚬"/>
            </a:pPr>
            <a:r>
              <a:rPr lang="en-US" sz="2400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Booking status (Canceled / Not Canceled)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27221" y="2432295"/>
            <a:ext cx="11833558" cy="197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b="true" sz="8000" spc="-16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</a:t>
            </a:r>
            <a:r>
              <a:rPr lang="en-US" b="true" sz="8000" spc="-16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 PREPROCESSING STEPS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00944" y="5239631"/>
            <a:ext cx="10632939" cy="235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815"/>
              </a:lnSpc>
              <a:buAutoNum type="arabicPeriod" startAt="1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</a:t>
            </a: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emoved unnecessary data features </a:t>
            </a:r>
          </a:p>
          <a:p>
            <a:pPr algn="l" marL="518158" indent="-259079" lvl="1">
              <a:lnSpc>
                <a:spcPts val="3815"/>
              </a:lnSpc>
              <a:buAutoNum type="arabicPeriod" startAt="1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Exploratory Data Analysis</a:t>
            </a:r>
          </a:p>
          <a:p>
            <a:pPr algn="l" marL="518158" indent="-259079" lvl="1">
              <a:lnSpc>
                <a:spcPts val="3815"/>
              </a:lnSpc>
              <a:buAutoNum type="arabicPeriod" startAt="1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Encoded categorical features using LabelEncoder &amp; scaling </a:t>
            </a:r>
          </a:p>
          <a:p>
            <a:pPr algn="l" marL="518158" indent="-259079" lvl="1">
              <a:lnSpc>
                <a:spcPts val="3815"/>
              </a:lnSpc>
              <a:buAutoNum type="arabicPeriod" startAt="1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Standardized numeric columns (lead time, price) and splitting data</a:t>
            </a:r>
          </a:p>
          <a:p>
            <a:pPr algn="l" marL="518158" indent="-259079" lvl="1">
              <a:lnSpc>
                <a:spcPts val="3815"/>
              </a:lnSpc>
              <a:buAutoNum type="arabicPeriod" startAt="1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Model testing and training, feature importance</a:t>
            </a:r>
          </a:p>
        </p:txBody>
      </p:sp>
      <p:sp>
        <p:nvSpPr>
          <p:cNvPr name="AutoShape 4" id="4"/>
          <p:cNvSpPr/>
          <p:nvPr/>
        </p:nvSpPr>
        <p:spPr>
          <a:xfrm>
            <a:off x="1028700" y="8700221"/>
            <a:ext cx="2626874" cy="0"/>
          </a:xfrm>
          <a:prstGeom prst="line">
            <a:avLst/>
          </a:prstGeom>
          <a:ln cap="flat" w="114300">
            <a:solidFill>
              <a:srgbClr val="0CC0D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5650019" y="2906078"/>
            <a:ext cx="2108727" cy="1825008"/>
          </a:xfrm>
          <a:custGeom>
            <a:avLst/>
            <a:gdLst/>
            <a:ahLst/>
            <a:cxnLst/>
            <a:rect r="r" b="b" t="t" l="l"/>
            <a:pathLst>
              <a:path h="1825008" w="2108727">
                <a:moveTo>
                  <a:pt x="2108727" y="0"/>
                </a:moveTo>
                <a:lnTo>
                  <a:pt x="0" y="0"/>
                </a:lnTo>
                <a:lnTo>
                  <a:pt x="0" y="1825007"/>
                </a:lnTo>
                <a:lnTo>
                  <a:pt x="2108727" y="1825007"/>
                </a:lnTo>
                <a:lnTo>
                  <a:pt x="21087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89652" y="2579430"/>
            <a:ext cx="4672218" cy="3366063"/>
          </a:xfrm>
          <a:custGeom>
            <a:avLst/>
            <a:gdLst/>
            <a:ahLst/>
            <a:cxnLst/>
            <a:rect r="r" b="b" t="t" l="l"/>
            <a:pathLst>
              <a:path h="3366063" w="4672218">
                <a:moveTo>
                  <a:pt x="0" y="0"/>
                </a:moveTo>
                <a:lnTo>
                  <a:pt x="4672218" y="0"/>
                </a:lnTo>
                <a:lnTo>
                  <a:pt x="4672218" y="3366063"/>
                </a:lnTo>
                <a:lnTo>
                  <a:pt x="0" y="33660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97" t="0" r="-5052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75813" y="4452961"/>
            <a:ext cx="6382933" cy="2887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5"/>
              </a:lnSpc>
            </a:pPr>
            <a:r>
              <a:rPr lang="en-US" b="true" sz="7888" spc="-165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EXPLO</a:t>
            </a:r>
            <a:r>
              <a:rPr lang="en-US" b="true" sz="7888" spc="-165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RING BOOKING BEHAVIOR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02045" y="6444256"/>
            <a:ext cx="6852950" cy="1405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815"/>
              </a:lnSpc>
              <a:buFont typeface="Arial"/>
              <a:buChar char="•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</a:t>
            </a: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untplot: Booking status distribution</a:t>
            </a:r>
          </a:p>
          <a:p>
            <a:pPr algn="l" marL="518158" indent="-259079" lvl="1">
              <a:lnSpc>
                <a:spcPts val="3815"/>
              </a:lnSpc>
              <a:buFont typeface="Arial"/>
              <a:buChar char="•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Boxplot: Lead time vs Booking Status</a:t>
            </a:r>
          </a:p>
          <a:p>
            <a:pPr algn="l" marL="518158" indent="-259079" lvl="1">
              <a:lnSpc>
                <a:spcPts val="3815"/>
              </a:lnSpc>
              <a:buFont typeface="Arial"/>
              <a:buChar char="•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Barplot: Market segment vs Cancellation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804720" y="2579430"/>
            <a:ext cx="4530780" cy="3366063"/>
          </a:xfrm>
          <a:custGeom>
            <a:avLst/>
            <a:gdLst/>
            <a:ahLst/>
            <a:cxnLst/>
            <a:rect r="r" b="b" t="t" l="l"/>
            <a:pathLst>
              <a:path h="3366063" w="4530780">
                <a:moveTo>
                  <a:pt x="0" y="0"/>
                </a:moveTo>
                <a:lnTo>
                  <a:pt x="4530780" y="0"/>
                </a:lnTo>
                <a:lnTo>
                  <a:pt x="4530780" y="3366063"/>
                </a:lnTo>
                <a:lnTo>
                  <a:pt x="0" y="33660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091" t="0" r="-12508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5970810" y="2874468"/>
            <a:ext cx="2138519" cy="1850791"/>
          </a:xfrm>
          <a:custGeom>
            <a:avLst/>
            <a:gdLst/>
            <a:ahLst/>
            <a:cxnLst/>
            <a:rect r="r" b="b" t="t" l="l"/>
            <a:pathLst>
              <a:path h="1850791" w="2138519">
                <a:moveTo>
                  <a:pt x="2138518" y="0"/>
                </a:moveTo>
                <a:lnTo>
                  <a:pt x="0" y="0"/>
                </a:lnTo>
                <a:lnTo>
                  <a:pt x="0" y="1850791"/>
                </a:lnTo>
                <a:lnTo>
                  <a:pt x="2138518" y="1850791"/>
                </a:lnTo>
                <a:lnTo>
                  <a:pt x="21385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028700"/>
            <a:ext cx="6064858" cy="4490814"/>
          </a:xfrm>
          <a:custGeom>
            <a:avLst/>
            <a:gdLst/>
            <a:ahLst/>
            <a:cxnLst/>
            <a:rect r="r" b="b" t="t" l="l"/>
            <a:pathLst>
              <a:path h="4490814" w="6064858">
                <a:moveTo>
                  <a:pt x="0" y="0"/>
                </a:moveTo>
                <a:lnTo>
                  <a:pt x="6064858" y="0"/>
                </a:lnTo>
                <a:lnTo>
                  <a:pt x="6064858" y="4490814"/>
                </a:lnTo>
                <a:lnTo>
                  <a:pt x="0" y="44908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626" t="0" r="-12041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36218" y="4481371"/>
            <a:ext cx="6473110" cy="2931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b="true" sz="8000" spc="-16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EXPLO</a:t>
            </a:r>
            <a:r>
              <a:rPr lang="en-US" b="true" sz="8000" spc="-16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RING BOOKING BEHAVIOR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5826487"/>
            <a:ext cx="7581121" cy="3176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7"/>
              </a:lnSpc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EDA reve</a:t>
            </a: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aled several interesting trends:</a:t>
            </a:r>
          </a:p>
          <a:p>
            <a:pPr algn="l" marL="518158" indent="-259079" lvl="1">
              <a:lnSpc>
                <a:spcPts val="3815"/>
              </a:lnSpc>
              <a:buFont typeface="Arial"/>
              <a:buChar char="•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Bookings with longer lead times were more likely to be canceled.</a:t>
            </a:r>
          </a:p>
          <a:p>
            <a:pPr algn="l" marL="518158" indent="-259079" lvl="1">
              <a:lnSpc>
                <a:spcPts val="3815"/>
              </a:lnSpc>
              <a:buFont typeface="Arial"/>
              <a:buChar char="•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Online bookings showed higher cancellation rates than offline ones.</a:t>
            </a:r>
          </a:p>
          <a:p>
            <a:pPr algn="l" marL="518158" indent="-259079" lvl="1">
              <a:lnSpc>
                <a:spcPts val="3815"/>
              </a:lnSpc>
              <a:buFont typeface="Arial"/>
              <a:buChar char="•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Customers with special requests tended to keep their reservations.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590332" y="6406860"/>
            <a:ext cx="4148873" cy="0"/>
          </a:xfrm>
          <a:prstGeom prst="line">
            <a:avLst/>
          </a:prstGeom>
          <a:ln cap="flat" w="66675">
            <a:solidFill>
              <a:srgbClr val="0CC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301075" y="1249590"/>
            <a:ext cx="5834711" cy="4416355"/>
          </a:xfrm>
          <a:custGeom>
            <a:avLst/>
            <a:gdLst/>
            <a:ahLst/>
            <a:cxnLst/>
            <a:rect r="r" b="b" t="t" l="l"/>
            <a:pathLst>
              <a:path h="4416355" w="5834711">
                <a:moveTo>
                  <a:pt x="0" y="0"/>
                </a:moveTo>
                <a:lnTo>
                  <a:pt x="5834710" y="0"/>
                </a:lnTo>
                <a:lnTo>
                  <a:pt x="5834710" y="4416355"/>
                </a:lnTo>
                <a:lnTo>
                  <a:pt x="0" y="44163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46" t="0" r="-7354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327139"/>
            <a:ext cx="6107085" cy="2931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b="true" sz="8000" spc="-16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</a:t>
            </a:r>
            <a:r>
              <a:rPr lang="en-US" b="true" sz="8000" spc="-16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SIGHTS FROM THE DATA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90332" y="1622391"/>
            <a:ext cx="8694433" cy="404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2399" spc="38" b="true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Top 5 Insights:</a:t>
            </a:r>
          </a:p>
          <a:p>
            <a:pPr algn="l">
              <a:lnSpc>
                <a:spcPts val="2067"/>
              </a:lnSpc>
            </a:pPr>
          </a:p>
          <a:p>
            <a:pPr algn="l" marL="518158" indent="-259079" lvl="1">
              <a:lnSpc>
                <a:spcPts val="3815"/>
              </a:lnSpc>
              <a:buAutoNum type="arabicPeriod" startAt="1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Long</a:t>
            </a: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er lead times → higher cancellation probability.</a:t>
            </a:r>
          </a:p>
          <a:p>
            <a:pPr algn="l" marL="518158" indent="-259079" lvl="1">
              <a:lnSpc>
                <a:spcPts val="3815"/>
              </a:lnSpc>
              <a:buAutoNum type="arabicPeriod" startAt="1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Online bookings are twice as likely to cancel as offline ones.</a:t>
            </a:r>
          </a:p>
          <a:p>
            <a:pPr algn="l" marL="518158" indent="-259079" lvl="1">
              <a:lnSpc>
                <a:spcPts val="3815"/>
              </a:lnSpc>
              <a:buAutoNum type="arabicPeriod" startAt="1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Higher average room price slightly correlates with cancellation (likely price sensitivity).</a:t>
            </a:r>
          </a:p>
          <a:p>
            <a:pPr algn="l" marL="518158" indent="-259079" lvl="1">
              <a:lnSpc>
                <a:spcPts val="3815"/>
              </a:lnSpc>
              <a:buAutoNum type="arabicPeriod" startAt="1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Repeated customers have the lowest cancellation rate.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90332" y="7138250"/>
            <a:ext cx="8408683" cy="1117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The</a:t>
            </a: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se findings help us understand customer intent and booking reliability — critical for revenue forecasting and customer management.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11021" y="1707795"/>
            <a:ext cx="12465958" cy="197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b="true" sz="8000" spc="-16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MACH</a:t>
            </a:r>
            <a:r>
              <a:rPr lang="en-US" b="true" sz="8000" spc="-16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INE LEARNING MODEL</a:t>
            </a:r>
          </a:p>
        </p:txBody>
      </p:sp>
      <p:sp>
        <p:nvSpPr>
          <p:cNvPr name="AutoShape 3" id="3"/>
          <p:cNvSpPr/>
          <p:nvPr/>
        </p:nvSpPr>
        <p:spPr>
          <a:xfrm>
            <a:off x="8125089" y="3323922"/>
            <a:ext cx="0" cy="5445783"/>
          </a:xfrm>
          <a:prstGeom prst="line">
            <a:avLst/>
          </a:prstGeom>
          <a:ln cap="flat" w="19050">
            <a:solidFill>
              <a:srgbClr val="0CC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05505" y="8373850"/>
            <a:ext cx="765451" cy="884450"/>
          </a:xfrm>
          <a:custGeom>
            <a:avLst/>
            <a:gdLst/>
            <a:ahLst/>
            <a:cxnLst/>
            <a:rect r="r" b="b" t="t" l="l"/>
            <a:pathLst>
              <a:path h="884450" w="765451">
                <a:moveTo>
                  <a:pt x="0" y="0"/>
                </a:moveTo>
                <a:lnTo>
                  <a:pt x="765451" y="0"/>
                </a:lnTo>
                <a:lnTo>
                  <a:pt x="765451" y="884450"/>
                </a:lnTo>
                <a:lnTo>
                  <a:pt x="0" y="884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92393" y="4199314"/>
            <a:ext cx="5346921" cy="3918739"/>
          </a:xfrm>
          <a:custGeom>
            <a:avLst/>
            <a:gdLst/>
            <a:ahLst/>
            <a:cxnLst/>
            <a:rect r="r" b="b" t="t" l="l"/>
            <a:pathLst>
              <a:path h="3918739" w="5346921">
                <a:moveTo>
                  <a:pt x="0" y="0"/>
                </a:moveTo>
                <a:lnTo>
                  <a:pt x="5346921" y="0"/>
                </a:lnTo>
                <a:lnTo>
                  <a:pt x="5346921" y="3918739"/>
                </a:lnTo>
                <a:lnTo>
                  <a:pt x="0" y="39187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02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608671" y="3228672"/>
            <a:ext cx="7561162" cy="235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815"/>
              </a:lnSpc>
              <a:buFont typeface="Arial"/>
              <a:buChar char="•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Ta</a:t>
            </a: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rget Variable: booking_status</a:t>
            </a:r>
          </a:p>
          <a:p>
            <a:pPr algn="l" marL="518158" indent="-259079" lvl="1">
              <a:lnSpc>
                <a:spcPts val="3815"/>
              </a:lnSpc>
              <a:buFont typeface="Arial"/>
              <a:buChar char="•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Algorithms Tested: Logistic Regression, Decision Tree, Random Forest</a:t>
            </a:r>
          </a:p>
          <a:p>
            <a:pPr algn="l" marL="518158" indent="-259079" lvl="1">
              <a:lnSpc>
                <a:spcPts val="3815"/>
              </a:lnSpc>
              <a:buFont typeface="Arial"/>
              <a:buChar char="•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Final Model: Random Forest Classifier</a:t>
            </a:r>
          </a:p>
          <a:p>
            <a:pPr algn="l" marL="518158" indent="-259079" lvl="1">
              <a:lnSpc>
                <a:spcPts val="3815"/>
              </a:lnSpc>
              <a:buFont typeface="Arial"/>
              <a:buChar char="•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Accuracy: ~92% on test data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08671" y="6412077"/>
            <a:ext cx="7561162" cy="235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Sev</a:t>
            </a: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eral models were trained and selected Random Forest for its balance between accuracy and interpretability. It achieved about 92% accuracy, meaning the model could correctly predict most cancellation outcomes.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066606"/>
            <a:ext cx="1191694" cy="1191694"/>
          </a:xfrm>
          <a:custGeom>
            <a:avLst/>
            <a:gdLst/>
            <a:ahLst/>
            <a:cxnLst/>
            <a:rect r="r" b="b" t="t" l="l"/>
            <a:pathLst>
              <a:path h="1191694" w="1191694">
                <a:moveTo>
                  <a:pt x="0" y="0"/>
                </a:moveTo>
                <a:lnTo>
                  <a:pt x="1191694" y="0"/>
                </a:lnTo>
                <a:lnTo>
                  <a:pt x="1191694" y="1191694"/>
                </a:lnTo>
                <a:lnTo>
                  <a:pt x="0" y="11916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694560" y="1028700"/>
            <a:ext cx="1564740" cy="1564740"/>
          </a:xfrm>
          <a:custGeom>
            <a:avLst/>
            <a:gdLst/>
            <a:ahLst/>
            <a:cxnLst/>
            <a:rect r="r" b="b" t="t" l="l"/>
            <a:pathLst>
              <a:path h="1564740" w="1564740">
                <a:moveTo>
                  <a:pt x="0" y="0"/>
                </a:moveTo>
                <a:lnTo>
                  <a:pt x="1564740" y="0"/>
                </a:lnTo>
                <a:lnTo>
                  <a:pt x="1564740" y="1564740"/>
                </a:lnTo>
                <a:lnTo>
                  <a:pt x="0" y="1564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19374" y="3861141"/>
            <a:ext cx="6534176" cy="3900251"/>
          </a:xfrm>
          <a:custGeom>
            <a:avLst/>
            <a:gdLst/>
            <a:ahLst/>
            <a:cxnLst/>
            <a:rect r="r" b="b" t="t" l="l"/>
            <a:pathLst>
              <a:path h="3900251" w="6534176">
                <a:moveTo>
                  <a:pt x="0" y="0"/>
                </a:moveTo>
                <a:lnTo>
                  <a:pt x="6534176" y="0"/>
                </a:lnTo>
                <a:lnTo>
                  <a:pt x="6534176" y="3900251"/>
                </a:lnTo>
                <a:lnTo>
                  <a:pt x="0" y="39002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425" t="0" r="-13964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745283" y="1475537"/>
            <a:ext cx="8797435" cy="197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b="true" sz="8000" spc="-16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</a:t>
            </a:r>
            <a:r>
              <a:rPr lang="en-US" b="true" sz="8000" spc="-16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AT FACTORS MATTER MOST?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53550" y="4584827"/>
            <a:ext cx="4769496" cy="235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815"/>
              </a:lnSpc>
              <a:buFont typeface="Arial"/>
              <a:buChar char="•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Market</a:t>
            </a: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Segment Type</a:t>
            </a:r>
          </a:p>
          <a:p>
            <a:pPr algn="l" marL="518158" indent="-259079" lvl="1">
              <a:lnSpc>
                <a:spcPts val="3815"/>
              </a:lnSpc>
              <a:buFont typeface="Arial"/>
              <a:buChar char="•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Special Requests</a:t>
            </a:r>
          </a:p>
          <a:p>
            <a:pPr algn="l" marL="518158" indent="-259079" lvl="1">
              <a:lnSpc>
                <a:spcPts val="3815"/>
              </a:lnSpc>
              <a:buFont typeface="Arial"/>
              <a:buChar char="•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Lead Time</a:t>
            </a:r>
          </a:p>
          <a:p>
            <a:pPr algn="l" marL="518158" indent="-259079" lvl="1">
              <a:lnSpc>
                <a:spcPts val="3815"/>
              </a:lnSpc>
              <a:buFont typeface="Arial"/>
              <a:buChar char="•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Car Parking Space </a:t>
            </a:r>
          </a:p>
          <a:p>
            <a:pPr algn="l" marL="518158" indent="-259079" lvl="1">
              <a:lnSpc>
                <a:spcPts val="3815"/>
              </a:lnSpc>
              <a:buFont typeface="Arial"/>
              <a:buChar char="•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Reservation for the Year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54230" y="8329422"/>
            <a:ext cx="12040330" cy="92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The top</a:t>
            </a: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predictors of cancellation were marketing, customer intent, and timing to drive most booking behaviours — confirming our earlier insights.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66180" y="2558472"/>
            <a:ext cx="2199304" cy="1707460"/>
          </a:xfrm>
          <a:custGeom>
            <a:avLst/>
            <a:gdLst/>
            <a:ahLst/>
            <a:cxnLst/>
            <a:rect r="r" b="b" t="t" l="l"/>
            <a:pathLst>
              <a:path h="1707460" w="2199304">
                <a:moveTo>
                  <a:pt x="0" y="0"/>
                </a:moveTo>
                <a:lnTo>
                  <a:pt x="2199305" y="0"/>
                </a:lnTo>
                <a:lnTo>
                  <a:pt x="2199305" y="1707460"/>
                </a:lnTo>
                <a:lnTo>
                  <a:pt x="0" y="1707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44127" y="1693691"/>
            <a:ext cx="11526163" cy="171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5"/>
              </a:lnSpc>
            </a:pPr>
            <a:r>
              <a:rPr lang="en-US" b="true" sz="7005" spc="-147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REC</a:t>
            </a:r>
            <a:r>
              <a:rPr lang="en-US" b="true" sz="7005" spc="-147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OMMENDATIONS FOR THE HOTEL INDUSTRY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18740" y="3913761"/>
            <a:ext cx="11128873" cy="3786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815"/>
              </a:lnSpc>
              <a:buAutoNum type="arabicPeriod" startAt="1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Enco</a:t>
            </a: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urage short lead time bookings with limited-time offers.</a:t>
            </a:r>
          </a:p>
          <a:p>
            <a:pPr algn="l" marL="518158" indent="-259079" lvl="1">
              <a:lnSpc>
                <a:spcPts val="3815"/>
              </a:lnSpc>
              <a:buAutoNum type="arabicPeriod" startAt="1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Reward repeated customers with loyalty discounts — they rarely cancel.</a:t>
            </a:r>
          </a:p>
          <a:p>
            <a:pPr algn="l" marL="518158" indent="-259079" lvl="1">
              <a:lnSpc>
                <a:spcPts val="3815"/>
              </a:lnSpc>
              <a:buAutoNum type="arabicPeriod" startAt="1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Monitor high-risk online bookings and confirm via reminders or deposits.</a:t>
            </a:r>
          </a:p>
          <a:p>
            <a:pPr algn="l" marL="518158" indent="-259079" lvl="1">
              <a:lnSpc>
                <a:spcPts val="3815"/>
              </a:lnSpc>
              <a:buAutoNum type="arabicPeriod" startAt="1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Promote special request options (e.g., meal plans) — they signal higher commitment.</a:t>
            </a:r>
          </a:p>
          <a:p>
            <a:pPr algn="l" marL="518158" indent="-259079" lvl="1">
              <a:lnSpc>
                <a:spcPts val="3815"/>
              </a:lnSpc>
              <a:buAutoNum type="arabicPeriod" startAt="1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Use predictive analytics regularly to forecast occupancy rates.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17901" y="8511921"/>
            <a:ext cx="14345427" cy="746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By</a:t>
            </a: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using this model, hotels can predict cancellations in advance and adjust pricing, marketing, and inventory accordingly.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27221" y="2344860"/>
            <a:ext cx="11449862" cy="1978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0"/>
              </a:lnSpc>
            </a:pPr>
            <a:r>
              <a:rPr lang="en-US" b="true" sz="8000" spc="-16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</a:t>
            </a:r>
            <a:r>
              <a:rPr lang="en-US" b="true" sz="8000" spc="-168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ONCLUSION AND NEXT STEPS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27221" y="4700276"/>
            <a:ext cx="12863956" cy="3786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815"/>
              </a:lnSpc>
              <a:buFont typeface="Arial"/>
              <a:buChar char="•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Data-</a:t>
            </a: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driven models can enhance hotel efficiency and customer engagement.</a:t>
            </a:r>
          </a:p>
          <a:p>
            <a:pPr algn="l" marL="518158" indent="-259079" lvl="1">
              <a:lnSpc>
                <a:spcPts val="3815"/>
              </a:lnSpc>
              <a:buFont typeface="Arial"/>
              <a:buChar char="•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Future work could include:</a:t>
            </a:r>
          </a:p>
          <a:p>
            <a:pPr algn="l" marL="1036317" indent="-345439" lvl="2">
              <a:lnSpc>
                <a:spcPts val="3815"/>
              </a:lnSpc>
              <a:buFont typeface="Arial"/>
              <a:buChar char="⚬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Dynamic pricing models</a:t>
            </a:r>
          </a:p>
          <a:p>
            <a:pPr algn="l" marL="1036317" indent="-345439" lvl="2">
              <a:lnSpc>
                <a:spcPts val="3815"/>
              </a:lnSpc>
              <a:buFont typeface="Arial"/>
              <a:buChar char="⚬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Sentiment analysis on customer reviews</a:t>
            </a:r>
          </a:p>
          <a:p>
            <a:pPr algn="l" marL="1036317" indent="-345439" lvl="2">
              <a:lnSpc>
                <a:spcPts val="3815"/>
              </a:lnSpc>
              <a:buFont typeface="Arial"/>
              <a:buChar char="⚬"/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Integration with booking APIs for real-time prediction</a:t>
            </a:r>
          </a:p>
          <a:p>
            <a:pPr algn="l">
              <a:lnSpc>
                <a:spcPts val="3815"/>
              </a:lnSpc>
            </a:pPr>
          </a:p>
          <a:p>
            <a:pPr algn="l">
              <a:lnSpc>
                <a:spcPts val="3815"/>
              </a:lnSpc>
            </a:pPr>
            <a:r>
              <a:rPr lang="en-US" sz="2399" spc="38">
                <a:solidFill>
                  <a:srgbClr val="2B2B2B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In conclusion, this project shows how analytics can strengthen decision-making in hospitality — turning uncertainty into strategy.</a:t>
            </a:r>
          </a:p>
        </p:txBody>
      </p:sp>
      <p:sp>
        <p:nvSpPr>
          <p:cNvPr name="AutoShape 4" id="4"/>
          <p:cNvSpPr/>
          <p:nvPr/>
        </p:nvSpPr>
        <p:spPr>
          <a:xfrm>
            <a:off x="1348446" y="1381246"/>
            <a:ext cx="2626874" cy="0"/>
          </a:xfrm>
          <a:prstGeom prst="line">
            <a:avLst/>
          </a:prstGeom>
          <a:ln cap="flat" w="114300">
            <a:solidFill>
              <a:srgbClr val="0CC0D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45563" y="1721000"/>
            <a:ext cx="4084874" cy="4114800"/>
          </a:xfrm>
          <a:custGeom>
            <a:avLst/>
            <a:gdLst/>
            <a:ahLst/>
            <a:cxnLst/>
            <a:rect r="r" b="b" t="t" l="l"/>
            <a:pathLst>
              <a:path h="4114800" w="4084874">
                <a:moveTo>
                  <a:pt x="0" y="0"/>
                </a:moveTo>
                <a:lnTo>
                  <a:pt x="4084874" y="0"/>
                </a:lnTo>
                <a:lnTo>
                  <a:pt x="40848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27501" y="4891257"/>
            <a:ext cx="8027034" cy="4367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19"/>
              </a:lnSpc>
            </a:pPr>
            <a:r>
              <a:rPr lang="en-US" b="true" sz="17786" spc="-373">
                <a:solidFill>
                  <a:srgbClr val="2B2B2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DAG3kS30Ink</dc:identifier>
  <dcterms:modified xsi:type="dcterms:W3CDTF">2011-08-01T06:04:30Z</dcterms:modified>
  <cp:revision>1</cp:revision>
  <dc:title>Analyzing Booking Trends in the Hospitality Industry</dc:title>
</cp:coreProperties>
</file>